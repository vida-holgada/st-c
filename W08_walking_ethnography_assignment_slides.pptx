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2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389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6DCCE"/>
                </a:solidFill>
                <a:latin typeface="Apple SD Gothic Neo"/>
              </a:rPr>
              <a:t>ST&amp;C W08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9436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FAF4EC"/>
                </a:solidFill>
                <a:latin typeface="Apple SD Gothic Neo"/>
              </a:rPr>
              <a:t>Walking
Ethnography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54864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E5DDD3"/>
                </a:solidFill>
                <a:latin typeface="Apple SD Gothic Neo"/>
              </a:rPr>
              <a:t>도시를 예쁜 풍경으로만 보지 않고, 실제로 그 장소를 버티게 하는 표면, 수리, 시간의 층위, 그리고 몸의 감각을 읽는 과제입니다.</a:t>
            </a:r>
          </a:p>
        </p:txBody>
      </p:sp>
      <p:pic>
        <p:nvPicPr>
          <p:cNvPr id="6" name="Picture 5" descr="milligan_alameda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713232"/>
            <a:ext cx="4069080" cy="2240280"/>
          </a:xfrm>
          <a:prstGeom prst="rect">
            <a:avLst/>
          </a:prstGeom>
        </p:spPr>
      </p:pic>
      <p:pic>
        <p:nvPicPr>
          <p:cNvPr id="7" name="Picture 6" descr="mattern_bridge_paint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182112"/>
            <a:ext cx="1938528" cy="2331720"/>
          </a:xfrm>
          <a:prstGeom prst="rect">
            <a:avLst/>
          </a:prstGeom>
        </p:spPr>
      </p:pic>
      <p:pic>
        <p:nvPicPr>
          <p:cNvPr id="8" name="Picture 7" descr="folarin_politics_and_prose_loc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3182112"/>
            <a:ext cx="1938528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5779008"/>
            <a:ext cx="39319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6DCCE"/>
                </a:solidFill>
                <a:latin typeface="Apple SD Gothic Neo"/>
              </a:rPr>
              <a:t>세 글 읽기 · 장소 관찰 · 사진 3-5장 · PDF 제출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1712"/>
                </a:solidFill>
                <a:latin typeface="Apple SD Gothic Neo"/>
              </a:rPr>
              <a:t>과제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C7164"/>
                </a:solidFill>
                <a:latin typeface="Apple SD Gothic Neo"/>
              </a:rPr>
              <a:t>무엇을 찍고, 무엇을 써야 하는지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4937760" cy="169164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810512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1712"/>
                </a:solidFill>
                <a:latin typeface="Apple SD Gothic Neo"/>
              </a:rPr>
              <a:t>01 무엇을 찍나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176272"/>
            <a:ext cx="452628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13933"/>
                </a:solidFill>
                <a:latin typeface="Apple SD Gothic Neo"/>
              </a:rPr>
              <a:t>사물의 앞면보다 뒷면, 연결부, 덧댐, 임시 고정, 낡음과 새것이 만나는 지점을 찍습니다.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4937760" cy="169164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810512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1712"/>
                </a:solidFill>
                <a:latin typeface="Apple SD Gothic Neo"/>
              </a:rPr>
              <a:t>02 무엇을 쓰나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176272"/>
            <a:ext cx="452628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13933"/>
                </a:solidFill>
                <a:latin typeface="Apple SD Gothic Neo"/>
              </a:rPr>
              <a:t>장소 묘사만 하지 말고, 그 장면이 과학기술의 심층, 곧 유지보수·시간·권력·감각의 층위와 어떻게 연결되는지 씁니다.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4937760" cy="169164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913631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1712"/>
                </a:solidFill>
                <a:latin typeface="Apple SD Gothic Neo"/>
              </a:rPr>
              <a:t>03 어떤 톤인가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279392"/>
            <a:ext cx="452628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13933"/>
                </a:solidFill>
                <a:latin typeface="Apple SD Gothic Neo"/>
              </a:rPr>
              <a:t>수업에서 다룬 과학기술의 역사적·사회적 측면을 떠올리며, 관찰한 장면이 무엇을 드러내는지 해석하는 쪽이 더 중요합니다.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749039"/>
            <a:ext cx="4937760" cy="169164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3913631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1712"/>
                </a:solidFill>
                <a:latin typeface="Apple SD Gothic Neo"/>
              </a:rPr>
              <a:t>04 어떻게 읽나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4279392"/>
            <a:ext cx="452628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13933"/>
                </a:solidFill>
                <a:latin typeface="Apple SD Gothic Neo"/>
              </a:rPr>
              <a:t>세 글에서 마음에 남는 문장과 이미지를 하나씩 골라 자신의 도시 관찰로 옮겨봅니다.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02920"/>
            <a:ext cx="1005840" cy="329184"/>
          </a:xfrm>
          <a:prstGeom prst="roundRect">
            <a:avLst/>
          </a:prstGeom>
          <a:solidFill>
            <a:srgbClr val="8F3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475488"/>
            <a:ext cx="36576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B1712"/>
                </a:solidFill>
                <a:latin typeface="Apple SD Gothic Neo"/>
              </a:rPr>
              <a:t>Maintenance and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C7164"/>
                </a:solidFill>
                <a:latin typeface="Apple SD Gothic Neo"/>
              </a:rPr>
              <a:t>Shannon Mattern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507492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413933"/>
                </a:solidFill>
                <a:latin typeface="Apple SD Gothic Neo"/>
              </a:rPr>
              <a:t>도시를 움직이는 것은 혁신의 반짝임보다 수리, 청소, 관리, 보수의 반복적 노동이라는 점을 보여 주는 글입니다.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486400" cy="434340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498348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도시의 표면이 버티는 이유는 보이지 않는 유지보수 노동이 계속 개입하기 때문입니다.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인프라의 위기는 숫자로만 보이지만, 실제 현장에서는 창문 청소, 케이블 설치, 교량 도색처럼 몸으로 하는 노동이 핵심입니다.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사물의 수리와 돌봄의 구조를 함께 보아야 도시의 사회적 관계와 불평등도 읽을 수 있습니다.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사진을 찍을 때는 “무엇이 망가졌는가”보다 “무엇이 아직 버티고 있는가”를 질문해 보면 좋습니다.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422392"/>
            <a:ext cx="4983480" cy="566928"/>
          </a:xfrm>
          <a:prstGeom prst="roundRect">
            <a:avLst/>
          </a:prstGeom>
          <a:solidFill>
            <a:srgbClr val="F8F4EE"/>
          </a:solidFill>
          <a:ln>
            <a:solidFill>
              <a:srgbClr val="8F3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5532120"/>
            <a:ext cx="4663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F3517"/>
                </a:solidFill>
                <a:latin typeface="Apple SD Gothic Neo"/>
              </a:rPr>
              <a:t>유지보수는 단순한 보수가 아니라 도시를 계속 작동시키는 사회적 기반입니다.</a:t>
            </a:r>
          </a:p>
        </p:txBody>
      </p:sp>
      <p:pic>
        <p:nvPicPr>
          <p:cNvPr id="10" name="Picture 9" descr="mattern_bridge_paint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19088" y="3511296"/>
            <a:ext cx="4937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Brooklyn Bridge painters, New York City.</a:t>
            </a:r>
          </a:p>
        </p:txBody>
      </p:sp>
      <p:pic>
        <p:nvPicPr>
          <p:cNvPr id="12" name="Picture 11" descr="mattern_spiderwe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86200"/>
            <a:ext cx="2487168" cy="1828800"/>
          </a:xfrm>
          <a:prstGeom prst="rect">
            <a:avLst/>
          </a:prstGeom>
        </p:spPr>
      </p:pic>
      <p:pic>
        <p:nvPicPr>
          <p:cNvPr id="13" name="Picture 12" descr="mattern_kader_atti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3886200"/>
            <a:ext cx="2487168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19088" y="5742432"/>
            <a:ext cx="2331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Nina Katchadourian, Mended Spiderweb.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5742432"/>
            <a:ext cx="2331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Kader Attia, Traditional Repair, Immaterial Injury.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02920"/>
            <a:ext cx="1005840" cy="329184"/>
          </a:xfrm>
          <a:prstGeom prst="roundRect">
            <a:avLst/>
          </a:prstGeom>
          <a:solidFill>
            <a:srgbClr val="2D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475488"/>
            <a:ext cx="36576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B1712"/>
                </a:solidFill>
                <a:latin typeface="Apple SD Gothic Neo"/>
              </a:rPr>
              <a:t>Accelerated and Decelerated Landscapes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C7164"/>
                </a:solidFill>
                <a:latin typeface="Apple SD Gothic Neo"/>
              </a:rPr>
              <a:t>Brett Milligan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507492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413933"/>
                </a:solidFill>
                <a:latin typeface="Apple SD Gothic Neo"/>
              </a:rPr>
              <a:t>알라메다 크릭 사례를 통해 공간이 어떤 흐름을 빠르게 하고 늦추는지, 그 조정이 어떤 비용과 개입을 낳는지 보여 줍니다.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486400" cy="434340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498348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경관은 자연을 그대로 두는 것이 아니라, 흐름의 속도를 조절하기 위해 인위적으로 조직된 공간이기도 합니다.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하천을 제방과 수로로 고정하면 홍수는 줄어들 수 있지만, 퇴적과 준설, 오염과 염분 침투 같은 새로운 문제가 발생합니다.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한 장소의 기술적 조정은 물, 토사, 생태, 행정, 자본, 노동이 겹친 시간의 층위를 드러냅니다.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과제에서도 자신이 보는 장소가 무엇을 빠르게 하고 무엇을 느리게 하는지 질문하면 좋습니다.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422392"/>
            <a:ext cx="4983480" cy="566928"/>
          </a:xfrm>
          <a:prstGeom prst="roundRect">
            <a:avLst/>
          </a:prstGeom>
          <a:solidFill>
            <a:srgbClr val="F8F4EE"/>
          </a:solidFill>
          <a:ln>
            <a:solidFill>
              <a:srgbClr val="2D5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5532120"/>
            <a:ext cx="4663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5D40"/>
                </a:solidFill>
                <a:latin typeface="Apple SD Gothic Neo"/>
              </a:rPr>
              <a:t>공간을 설계한다는 것은 종종 시간과 흐름을 설계하는 일과 같습니다.</a:t>
            </a:r>
          </a:p>
        </p:txBody>
      </p:sp>
      <p:pic>
        <p:nvPicPr>
          <p:cNvPr id="10" name="Picture 9" descr="milligan_alameda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19088" y="3511296"/>
            <a:ext cx="4937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Alameda Creek as currently configured.</a:t>
            </a:r>
          </a:p>
        </p:txBody>
      </p:sp>
      <p:pic>
        <p:nvPicPr>
          <p:cNvPr id="12" name="Picture 11" descr="milligan_alameda_chan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86200"/>
            <a:ext cx="2487168" cy="1828800"/>
          </a:xfrm>
          <a:prstGeom prst="rect">
            <a:avLst/>
          </a:prstGeom>
        </p:spPr>
      </p:pic>
      <p:pic>
        <p:nvPicPr>
          <p:cNvPr id="13" name="Picture 12" descr="milligan_alameda_b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3886200"/>
            <a:ext cx="2487168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19088" y="5742432"/>
            <a:ext cx="2331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Alameda Creek Flood Control Channel.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5742432"/>
            <a:ext cx="2331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Old quarry pits alongside the channel.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02920"/>
            <a:ext cx="1005840" cy="329184"/>
          </a:xfrm>
          <a:prstGeom prst="roundRect">
            <a:avLst/>
          </a:prstGeom>
          <a:solidFill>
            <a:srgbClr val="1F4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475488"/>
            <a:ext cx="36576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B1712"/>
                </a:solidFill>
                <a:latin typeface="Apple SD Gothic Neo"/>
              </a:rPr>
              <a:t>The City Was All I 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C7164"/>
                </a:solidFill>
                <a:latin typeface="Apple SD Gothic Neo"/>
              </a:rPr>
              <a:t>Tope Folarin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507492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413933"/>
                </a:solidFill>
                <a:latin typeface="Apple SD Gothic Neo"/>
              </a:rPr>
              <a:t>도시의 기념비, 지하철 동선, 기숙사 방, 거리의 음악, 서점 같은 장소가 한 사람의 리듬과 감각을 어떻게 조직하는지 보여 주는 글입니다.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486400" cy="434340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498348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워싱턴 D.C.는 상징적 건물의 도시이면서도, 동시에 한 사람의 통근 경로와 생활 리듬 속에서 다시 조직되는 감각의 공간입니다.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하워드 기숙사, 쇼/하워드 역, 르앙팡 플라자, 캐피톨 사우스 같은 이동 경로는 도시의 권력 구조를 몸으로 경험하게 합니다.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Florida와 Georgia 교차로의 go-go 음악, Politics and Prose 같은 장소는 도시를 사적인 감각의 장면으로 바꿉니다.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700">
                <a:solidFill>
                  <a:srgbClr val="413933"/>
                </a:solidFill>
                <a:latin typeface="Apple SD Gothic Neo"/>
              </a:rPr>
              <a:t>과제에서는 분위기가 바뀌는 경계선, 교차로, 출구, 실내와 실외의 전환에 주목하면 좋습니다.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422392"/>
            <a:ext cx="4983480" cy="566928"/>
          </a:xfrm>
          <a:prstGeom prst="roundRect">
            <a:avLst/>
          </a:prstGeom>
          <a:solidFill>
            <a:srgbClr val="F8F4EE"/>
          </a:solidFill>
          <a:ln>
            <a:solidFill>
              <a:srgbClr val="1F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5532120"/>
            <a:ext cx="4663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4F77"/>
                </a:solidFill>
                <a:latin typeface="Apple SD Gothic Neo"/>
              </a:rPr>
              <a:t>도시를 읽는 글에서는 감정과 감각도 중요한 증거가 됩니다.</a:t>
            </a:r>
          </a:p>
        </p:txBody>
      </p:sp>
      <p:pic>
        <p:nvPicPr>
          <p:cNvPr id="10" name="Picture 9" descr="folarin_founders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19088" y="3511296"/>
            <a:ext cx="4937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Founders Library, Howard University.</a:t>
            </a:r>
          </a:p>
        </p:txBody>
      </p:sp>
      <p:pic>
        <p:nvPicPr>
          <p:cNvPr id="12" name="Picture 11" descr="folarin_florida_georg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86200"/>
            <a:ext cx="2487168" cy="1828800"/>
          </a:xfrm>
          <a:prstGeom prst="rect">
            <a:avLst/>
          </a:prstGeom>
        </p:spPr>
      </p:pic>
      <p:pic>
        <p:nvPicPr>
          <p:cNvPr id="13" name="Picture 12" descr="folarin_politics_and_prose_loc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3886200"/>
            <a:ext cx="2487168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19088" y="5742432"/>
            <a:ext cx="2331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Intersection of Florida and Georgia Avenues.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5742432"/>
            <a:ext cx="2331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Politics and Prose Bookstore and Coffeehouse.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4114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1712"/>
                </a:solidFill>
                <a:latin typeface="Apple SD Gothic Neo"/>
              </a:rPr>
              <a:t>작성 원칙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5486400" cy="521208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5080" y="1143000"/>
            <a:ext cx="5166360" cy="521208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4937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B1712"/>
                </a:solidFill>
                <a:latin typeface="Apple SD Gothic Neo"/>
              </a:rPr>
              <a:t>인용과 서지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783080"/>
            <a:ext cx="493776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413933"/>
                </a:solidFill>
                <a:latin typeface="Apple SD Gothic Neo"/>
              </a:rPr>
              <a:t>모든 주는 각주로 처리하고, 별도의 참고문헌은 제시하지 않습니다.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413933"/>
                </a:solidFill>
                <a:latin typeface="Apple SD Gothic Neo"/>
              </a:rPr>
              <a:t>동양서: 저자, "논문명", 『서명』 (간행지역: 출판사, 연도), 쪽수.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413933"/>
                </a:solidFill>
                <a:latin typeface="Apple SD Gothic Neo"/>
              </a:rPr>
              <a:t>서양서: Author, "Subject," Book's Title (Location: Publisher, Year), pages.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413933"/>
                </a:solidFill>
                <a:latin typeface="Apple SD Gothic Neo"/>
              </a:rPr>
              <a:t>인터넷 자료는 URL과 접속일을 반드시 적습니다.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413933"/>
                </a:solidFill>
                <a:latin typeface="Apple SD Gothic Neo"/>
              </a:rPr>
              <a:t>모든 인용문은 번역을 원칙으로 하고, 출처와 쪽수를 밝혀야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173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B1712"/>
                </a:solidFill>
                <a:latin typeface="Apple SD Gothic Neo"/>
              </a:rPr>
              <a:t>표 · 그림 · 언어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1783080"/>
            <a:ext cx="457200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413933"/>
                </a:solidFill>
                <a:latin typeface="Apple SD Gothic Neo"/>
              </a:rPr>
              <a:t>표와 그림은 본문과 별도로 작성하고 일련번호를 붙이며, 출처는 아래에 제시합니다.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413933"/>
                </a:solidFill>
                <a:latin typeface="Apple SD Gothic Neo"/>
              </a:rPr>
              <a:t>가능한 한 한글 집필을 원칙으로 합니다.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413933"/>
                </a:solidFill>
                <a:latin typeface="Apple SD Gothic Neo"/>
              </a:rPr>
              <a:t>한자가 필요한 경우에는 ‘과학사학회(科學史學會)’처럼 한글과 함께 적습니다.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413933"/>
                </a:solidFill>
                <a:latin typeface="Apple SD Gothic Neo"/>
              </a:rPr>
              <a:t>고유명사는 처음에만 한글+원어를 병기하고 이후에는 일관되게 처리합니다.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1712"/>
                </a:solidFill>
                <a:latin typeface="Apple SD Gothic Neo"/>
              </a:rPr>
              <a:t>참고 문헌 추천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3429000" cy="534924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chine_criticism_essay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261872"/>
            <a:ext cx="1554480" cy="2212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68880" y="1298448"/>
            <a:ext cx="13258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B1712"/>
                </a:solidFill>
                <a:latin typeface="Apple SD Gothic Neo"/>
              </a:rPr>
              <a:t>기계비평들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755648"/>
            <a:ext cx="1325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C7164"/>
                </a:solidFill>
                <a:latin typeface="Apple SD Gothic Neo"/>
              </a:rPr>
              <a:t>전치형 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657600"/>
            <a:ext cx="29718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13933"/>
                </a:solidFill>
                <a:latin typeface="Apple SD Gothic Neo"/>
              </a:rPr>
              <a:t>기술 고장, 통신장애, 사회위기와 연결된 일상적 인프라의 문제를 읽는 데 좋습니다.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97280"/>
            <a:ext cx="3429000" cy="534924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chine_criticis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261872"/>
            <a:ext cx="1554480" cy="2212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1298448"/>
            <a:ext cx="13258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B1712"/>
                </a:solidFill>
                <a:latin typeface="Apple SD Gothic Neo"/>
              </a:rPr>
              <a:t>기계비평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55648"/>
            <a:ext cx="1325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C7164"/>
                </a:solidFill>
                <a:latin typeface="Apple SD Gothic Neo"/>
              </a:rPr>
              <a:t>이영준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657600"/>
            <a:ext cx="29718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13933"/>
                </a:solidFill>
                <a:latin typeface="Apple SD Gothic Neo"/>
              </a:rPr>
              <a:t>속도, 이동, 기계문명, 감각의 변화를 인문학적으로 읽어볼 수 있는 책입니다.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097280"/>
            <a:ext cx="3429000" cy="534924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thics_of_inven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61872"/>
            <a:ext cx="1554480" cy="22128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49840" y="1298448"/>
            <a:ext cx="13258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B1712"/>
                </a:solidFill>
                <a:latin typeface="Apple SD Gothic Neo"/>
              </a:rPr>
              <a:t>테크놀로지의 정치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1755648"/>
            <a:ext cx="1325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C7164"/>
                </a:solidFill>
                <a:latin typeface="Apple SD Gothic Neo"/>
              </a:rPr>
              <a:t>실라 재서노프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657600"/>
            <a:ext cx="29718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13933"/>
                </a:solidFill>
                <a:latin typeface="Apple SD Gothic Neo"/>
              </a:rPr>
              <a:t>과학기술이 제도, 윤리, 시민성, 권력과 어떻게 얽히는지 생각하게 해 줍니다.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B1712"/>
                </a:solidFill>
                <a:latin typeface="Apple SD Gothic Neo"/>
              </a:rPr>
              <a:t>참고 문헌 추천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3429000" cy="534924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eathing_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261872"/>
            <a:ext cx="1554480" cy="2212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68880" y="1298448"/>
            <a:ext cx="1325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1712"/>
                </a:solidFill>
                <a:latin typeface="Apple SD Gothic Neo"/>
              </a:rPr>
              <a:t>호흡공동체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13258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천희정 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657600"/>
            <a:ext cx="29718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13933"/>
                </a:solidFill>
                <a:latin typeface="Apple SD Gothic Neo"/>
              </a:rPr>
              <a:t>미세먼지, 감염병, 폭염 같은 문제를 몸의 감각과 공공의 과학·정치 문제로 연결합니다.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97280"/>
            <a:ext cx="3429000" cy="534924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staining_for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261872"/>
            <a:ext cx="1554480" cy="2212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1298448"/>
            <a:ext cx="1325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1712"/>
                </a:solidFill>
                <a:latin typeface="Apple SD Gothic Neo"/>
              </a:rPr>
              <a:t>지탱하는 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13258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리 빈셀 · 앤드루 L. 러셀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657600"/>
            <a:ext cx="29718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13933"/>
                </a:solidFill>
                <a:latin typeface="Apple SD Gothic Neo"/>
              </a:rPr>
              <a:t>혁신보다 유지보수의 가치를 앞세우며, 세상을 버티게 하는 노동을 전면에 놓습니다.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097280"/>
            <a:ext cx="3429000" cy="5349240"/>
          </a:xfrm>
          <a:prstGeom prst="roundRect">
            <a:avLst/>
          </a:prstGeom>
          <a:solidFill>
            <a:srgbClr val="FFFAF2"/>
          </a:solidFill>
          <a:ln>
            <a:solidFill>
              <a:srgbClr val="E4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hat_is_media_archaeolog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61872"/>
            <a:ext cx="1554480" cy="22128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49840" y="1298448"/>
            <a:ext cx="1325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1712"/>
                </a:solidFill>
                <a:latin typeface="Apple SD Gothic Neo"/>
              </a:rPr>
              <a:t>미디어고고학이란 무엇인가?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1828800"/>
            <a:ext cx="13258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C7164"/>
                </a:solidFill>
                <a:latin typeface="Apple SD Gothic Neo"/>
              </a:rPr>
              <a:t>유시 파리카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657600"/>
            <a:ext cx="29718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13933"/>
                </a:solidFill>
                <a:latin typeface="Apple SD Gothic Neo"/>
              </a:rPr>
              <a:t>낡은 장치와 매체 환경의 잔해를 따라가며 기술의 역사적 층위를 읽게 해 줍니다.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114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8F2EB"/>
                </a:solidFill>
                <a:latin typeface="Apple SD Gothic Neo"/>
              </a:rPr>
              <a:t>제출 형식과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51206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D6CDC3"/>
                </a:solidFill>
                <a:latin typeface="Apple SD Gothic Neo"/>
              </a:rPr>
              <a:t>W08 과제에서 학생들에게 꼭 보여주면 되는 핵심만 정리했습니다.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94960" cy="2057400"/>
          </a:xfrm>
          <a:prstGeom prst="roundRect">
            <a:avLst/>
          </a:prstGeom>
          <a:solidFill>
            <a:srgbClr val="251E19"/>
          </a:solidFill>
          <a:ln>
            <a:solidFill>
              <a:srgbClr val="4B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103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8F2EB"/>
                </a:solidFill>
                <a:latin typeface="Apple SD Gothic Neo"/>
              </a:rPr>
              <a:t>기본 제출물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663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E8E0D6"/>
                </a:solidFill>
                <a:latin typeface="Apple SD Gothic Neo"/>
              </a:rPr>
              <a:t>A4 3페이지 내외, 사진 3-5장 포함, PDF 제출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E8E0D6"/>
                </a:solidFill>
                <a:latin typeface="Apple SD Gothic Neo"/>
              </a:rPr>
              <a:t>공백 포함 2,000자 이상 권장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E8E0D6"/>
                </a:solidFill>
                <a:latin typeface="Apple SD Gothic Neo"/>
              </a:rPr>
              <a:t>과학기술과 문명 수업과 관련된 내용으로 해석하기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E8E0D6"/>
                </a:solidFill>
                <a:latin typeface="Apple SD Gothic Neo"/>
              </a:rPr>
              <a:t>사례는 지하철역, 버스정류장, 시장, 하천 산책로, 재개발 구역, 학교 주변 등 자유롭게 선택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5394960" cy="2057400"/>
          </a:xfrm>
          <a:prstGeom prst="roundRect">
            <a:avLst/>
          </a:prstGeom>
          <a:solidFill>
            <a:srgbClr val="251E19"/>
          </a:solidFill>
          <a:ln>
            <a:solidFill>
              <a:srgbClr val="4B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8F2EB"/>
                </a:solidFill>
                <a:latin typeface="Apple SD Gothic Neo"/>
              </a:rPr>
              <a:t>추가 점수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53712"/>
            <a:ext cx="466344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E8E0D6"/>
                </a:solidFill>
                <a:latin typeface="Apple SD Gothic Neo"/>
              </a:rPr>
              <a:t>다음 주까지 제출 시 1점 가산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E8E0D6"/>
                </a:solidFill>
                <a:latin typeface="Apple SD Gothic Neo"/>
              </a:rPr>
              <a:t>200-300단어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E8E0D6"/>
                </a:solidFill>
                <a:latin typeface="Apple SD Gothic Neo"/>
              </a:rPr>
              <a:t>어디서 무엇을 볼지 구체적으로 적기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E8E0D6"/>
                </a:solidFill>
                <a:latin typeface="Apple SD Gothic Neo"/>
              </a:rPr>
              <a:t>참고문헌 3개 포함, 신문 기사와 논문만 허용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45920"/>
            <a:ext cx="5120640" cy="4389120"/>
          </a:xfrm>
          <a:prstGeom prst="roundRect">
            <a:avLst/>
          </a:prstGeom>
          <a:solidFill>
            <a:srgbClr val="F8F4EC"/>
          </a:solidFill>
          <a:ln>
            <a:solidFill>
              <a:srgbClr val="4B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847088"/>
            <a:ext cx="2194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B1712"/>
                </a:solidFill>
                <a:latin typeface="Apple SD Gothic Neo"/>
              </a:rPr>
              <a:t>평가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12848"/>
            <a:ext cx="4572000" cy="3429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413933"/>
                </a:solidFill>
                <a:latin typeface="Apple SD Gothic Neo"/>
              </a:rPr>
              <a:t>A 30: 사진과 글이 긴밀히 연결되고, 관찰과 해석이 설득력 있다.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413933"/>
                </a:solidFill>
                <a:latin typeface="Apple SD Gothic Neo"/>
              </a:rPr>
              <a:t>B 27: 기록은 성실하고 분석도 적절하지만 해석의 밀도가 조금 약하다.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413933"/>
                </a:solidFill>
                <a:latin typeface="Apple SD Gothic Neo"/>
              </a:rPr>
              <a:t>C 24: 사진과 글은 연결되지만, 역사적/사회적 해석보다 감상문이나 산책기 비중이 높다.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413933"/>
                </a:solidFill>
                <a:latin typeface="Apple SD Gothic Neo"/>
              </a:rPr>
              <a:t>D 21: 형식은 갖추었지만, 수업 시간에 배운 내용과 물질의 역사적 층위를 충분히 읽어내지 못했다.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413933"/>
                </a:solidFill>
                <a:latin typeface="Apple SD Gothic Neo"/>
              </a:rPr>
              <a:t>F 15: 제출은 했지만 과제의 핵심 질문을 충분히 이해하지 못했거나 내용이 매우 불성실하다.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